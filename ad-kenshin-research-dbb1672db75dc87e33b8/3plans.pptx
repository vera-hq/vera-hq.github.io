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価格帯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44C"/>
              </a:solidFill>
              <a:effectLst/>
            </c:spPr>
          </c:dPt>
          <c:dPt>
            <c:idx val="1"/>
            <c:bubble3D val="0"/>
            <c:spPr>
              <a:solidFill>
                <a:srgbClr val="14264F"/>
              </a:solidFill>
              <a:effectLst/>
            </c:spPr>
          </c:dPt>
          <c:dPt>
            <c:idx val="2"/>
            <c:bubble3D val="0"/>
            <c:spPr>
              <a:solidFill>
                <a:srgbClr val="B0453A"/>
              </a:solidFill>
              <a:effectLst/>
            </c:spPr>
          </c:dPt>
          <c:dPt>
            <c:idx val="3"/>
            <c:bubble3D val="0"/>
            <c:spPr>
              <a:solidFill>
                <a:srgbClr val="8FA0C0"/>
              </a:solidFill>
              <a:effectLst/>
            </c:spPr>
          </c:dPt>
          <c:dPt>
            <c:idx val="4"/>
            <c:bubble3D val="0"/>
            <c:spPr>
              <a:solidFill>
                <a:srgbClr val="C3CCDD"/>
              </a:solidFill>
              <a:effectLst/>
            </c:spPr>
          </c:dPt>
          <c:dPt>
            <c:idx val="5"/>
            <c:bubble3D val="0"/>
            <c:spPr>
              <a:solidFill>
                <a:srgbClr val="E3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eiry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eiry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eiry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eiry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eiry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eiry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月2〜5万円（固定）</c:v>
                </c:pt>
                <c:pt idx="1">
                  <c:v>月10〜30万円（固定）</c:v>
                </c:pt>
                <c:pt idx="2">
                  <c:v>広告費に連動（20%等）</c:v>
                </c:pt>
                <c:pt idx="3">
                  <c:v>無料</c:v>
                </c:pt>
                <c:pt idx="4">
                  <c:v>時間単価</c:v>
                </c:pt>
                <c:pt idx="5">
                  <c:v>非公開・要問い合わせ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  <c:pt idx="5">
                  <c:v>15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該当サービス数</c:v>
                </c:pt>
              </c:strCache>
            </c:strRef>
          </c:tx>
          <c:spPr>
            <a:solidFill>
              <a:srgbClr val="1426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数字を並べる（レポート）</c:v>
                  </c:pt>
                  <c:pt idx="1">
                    <c:v>次の一手まで言う</c:v>
                  </c:pt>
                  <c:pt idx="2">
                    <c:v>お客様の育ち（LTV）まで見る</c:v>
                  </c:pt>
                  <c:pt idx="3">
                    <c:v>広告 × LTV × 指し手 の3点セット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24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A社型</c:v>
                </c:pt>
              </c:strCache>
            </c:strRef>
          </c:tx>
          <c:spPr>
            <a:solidFill>
              <a:srgbClr val="B9C2D4"/>
            </a:solidFill>
            <a:ln w="25400" cap="flat">
              <a:solidFill>
                <a:srgbClr val="B9C2D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9C2D4"/>
              </a:solidFill>
              <a:ln w="9525" cap="flat">
                <a:solidFill>
                  <a:srgbClr val="B9C2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価格の手頃さ</c:v>
                  </c:pt>
                  <c:pt idx="1">
                    <c:v>数字の網羅性</c:v>
                  </c:pt>
                  <c:pt idx="2">
                    <c:v>次の一手の具体性</c:v>
                  </c:pt>
                  <c:pt idx="3">
                    <c:v>お客様の育ち(LTV)</c:v>
                  </c:pt>
                  <c:pt idx="4">
                    <c:v>手間の少なさ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B社型</c:v>
                </c:pt>
              </c:strCache>
            </c:strRef>
          </c:tx>
          <c:spPr>
            <a:solidFill>
              <a:srgbClr val="8FA0C0"/>
            </a:solidFill>
            <a:ln w="25400" cap="flat">
              <a:solidFill>
                <a:srgbClr val="8FA0C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8FA0C0"/>
              </a:solidFill>
              <a:ln w="9525" cap="flat">
                <a:solidFill>
                  <a:srgbClr val="8FA0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価格の手頃さ</c:v>
                  </c:pt>
                  <c:pt idx="1">
                    <c:v>数字の網羅性</c:v>
                  </c:pt>
                  <c:pt idx="2">
                    <c:v>次の一手の具体性</c:v>
                  </c:pt>
                  <c:pt idx="3">
                    <c:v>お客様の育ち(LTV)</c:v>
                  </c:pt>
                  <c:pt idx="4">
                    <c:v>手間の少なさ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C社型</c:v>
                </c:pt>
              </c:strCache>
            </c:strRef>
          </c:tx>
          <c:spPr>
            <a:solidFill>
              <a:srgbClr val="C3CCDD"/>
            </a:solidFill>
            <a:ln w="25400" cap="flat">
              <a:solidFill>
                <a:srgbClr val="C3CCD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CDD"/>
              </a:solidFill>
              <a:ln w="9525" cap="flat">
                <a:solidFill>
                  <a:srgbClr val="C3CCD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価格の手頃さ</c:v>
                  </c:pt>
                  <c:pt idx="1">
                    <c:v>数字の網羅性</c:v>
                  </c:pt>
                  <c:pt idx="2">
                    <c:v>次の一手の具体性</c:v>
                  </c:pt>
                  <c:pt idx="3">
                    <c:v>お客様の育ち(LTV)</c:v>
                  </c:pt>
                  <c:pt idx="4">
                    <c:v>手間の少なさ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広告カルテ</c:v>
                </c:pt>
              </c:strCache>
            </c:strRef>
          </c:tx>
          <c:spPr>
            <a:solidFill>
              <a:srgbClr val="C9A44C"/>
            </a:solidFill>
            <a:ln w="25400" cap="flat">
              <a:solidFill>
                <a:srgbClr val="C9A44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9A44C"/>
              </a:solidFill>
              <a:ln w="9525" cap="flat">
                <a:solidFill>
                  <a:srgbClr val="C9A4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価格の手頃さ</c:v>
                  </c:pt>
                  <c:pt idx="1">
                    <c:v>数字の網羅性</c:v>
                  </c:pt>
                  <c:pt idx="2">
                    <c:v>次の一手の具体性</c:v>
                  </c:pt>
                  <c:pt idx="3">
                    <c:v>お客様の育ち(LTV)</c:v>
                  </c:pt>
                  <c:pt idx="4">
                    <c:v>手間の少なさ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月額（円）</c:v>
                </c:pt>
              </c:strCache>
            </c:strRef>
          </c:tx>
          <c:spPr>
            <a:solidFill>
              <a:srgbClr val="C9A44C"/>
            </a:solidFill>
            <a:effectLst/>
          </c:spPr>
          <c:invertIfNegative val="0"/>
          <c:dLbls>
            <c:numFmt formatCode="#,##0&quot;円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4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4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4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0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6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3CCD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当社ライト</c:v>
                  </c:pt>
                  <c:pt idx="1">
                    <c:v>当社スタンダード</c:v>
                  </c:pt>
                  <c:pt idx="2">
                    <c:v>当社プレミアム</c:v>
                  </c:pt>
                  <c:pt idx="3">
                    <c:v>道具型の平均</c:v>
                  </c:pt>
                  <c:pt idx="4">
                    <c:v>公開全体の平均</c:v>
                  </c:pt>
                  <c:pt idx="5">
                    <c:v>助言型の平均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15000</c:v>
                </c:pt>
                <c:pt idx="1">
                  <c:v>30000</c:v>
                </c:pt>
                <c:pt idx="2">
                  <c:v>50000</c:v>
                </c:pt>
                <c:pt idx="3">
                  <c:v>35975</c:v>
                </c:pt>
                <c:pt idx="4">
                  <c:v>74446</c:v>
                </c:pt>
                <c:pt idx="5">
                  <c:v>162500</c:v>
                </c:pt>
              </c:numCache>
            </c:numRef>
          </c:val>
        </c:ser>
        <c:dLbls>
          <c:numFmt formatCode="#,##0&quot;円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000000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 KARTE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広告カルテ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2761488"/>
            <a:ext cx="2011680" cy="0"/>
          </a:xfrm>
          <a:prstGeom prst="line">
            <a:avLst/>
          </a:prstGeom>
          <a:noFill/>
          <a:ln w="31750">
            <a:solidFill>
              <a:srgbClr val="C9A4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広告の数字と、お客様の育ちを、毎月1枚に。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株式会社VERA Holdings　|　後方支援　|　2026-07-23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このサービスは何か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広告の「運用」ではなく、「見える化と次の一手」だけをお預かりします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142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お引き受けすること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数字を正しく見えるようにする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次の一手を、金額の試算つきで示す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毎月続けて、答え合わせをする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F7F4EC"/>
          </a:solidFill>
          <a:ln w="19050">
            <a:solidFill>
              <a:srgbClr val="C9A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お引き受けしないこと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○"/>
            </a:pPr>
            <a:r>
              <a:rPr lang="en-US" sz="12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広告の運用代行はしません（運用はお客様 or 既存の代理店のまま）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○"/>
            </a:pPr>
            <a:r>
              <a:rPr lang="en-US" sz="12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成果をお約束するものではありません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4264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7647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運用を持たないから、どの媒体・どの代理店にも遠慮なく「ここが漏れています」と言えます。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株式会社VERA Holdings（後方支援）｜2026-07-23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3つのプラン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できることの「深さ」で分かれています。最後に選ぶのはお客様です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79192" cy="30175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5240">
            <a:solidFill>
              <a:srgbClr val="E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9903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 1.5万円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231343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対象媒体：1媒体（Meta など）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677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月次の数値レポート（Excel 2冊）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診断書（1枚・5分で読める）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改善の指し手 5つ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リンク1本で納品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904488"/>
            <a:ext cx="2404872" cy="274320"/>
          </a:xfrm>
          <a:prstGeom prst="roundRect">
            <a:avLst>
              <a:gd name="adj" fmla="val 13333"/>
            </a:avLst>
          </a:prstGeom>
          <a:solidFill>
            <a:srgbClr val="F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91363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まず自社の数字を見えるようにしたい店舗・小規模EC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19272" y="1234440"/>
            <a:ext cx="2679192" cy="3017520"/>
          </a:xfrm>
          <a:prstGeom prst="roundRect">
            <a:avLst>
              <a:gd name="adj" fmla="val 2048"/>
            </a:avLst>
          </a:prstGeom>
          <a:solidFill>
            <a:srgbClr val="14264F"/>
          </a:solidFill>
          <a:ln w="31750">
            <a:solidFill>
              <a:srgbClr val="C9A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078992"/>
            <a:ext cx="1005840" cy="274320"/>
          </a:xfrm>
          <a:prstGeom prst="rect">
            <a:avLst/>
          </a:prstGeom>
          <a:solidFill>
            <a:srgbClr val="C9A4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139903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スタンダード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2152" y="17373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 3万円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502152" y="2221992"/>
            <a:ext cx="2313432" cy="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2860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対象媒体：全媒体（Meta／Google／LINE ほか）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47872" y="2606040"/>
            <a:ext cx="22677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ライトの全部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全媒体を1枚に統合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登録経路 × LTV 分析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月1回30分の読み合わせ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先月提案の答え合わせ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56432" y="3904488"/>
            <a:ext cx="2404872" cy="274320"/>
          </a:xfrm>
          <a:prstGeom prst="roundRect">
            <a:avLst>
              <a:gd name="adj" fmla="val 13333"/>
            </a:avLst>
          </a:prstGeom>
          <a:solidFill>
            <a:srgbClr val="24407A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91363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 月50万円以上・リピート購入がある会社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81344" y="1234440"/>
            <a:ext cx="2679192" cy="30175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524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139903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4224" y="17373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 5万円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364224" y="2221992"/>
            <a:ext cx="231343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22860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対象媒体：全媒体＋週次モニタリング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9944" y="2606040"/>
            <a:ext cx="22677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スタンダードの全部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週次の勝ち負けアラート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LTV施策の伴走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四半期ごとのLTV再計算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18504" y="3904488"/>
            <a:ext cx="2404872" cy="274320"/>
          </a:xfrm>
          <a:prstGeom prst="roundRect">
            <a:avLst>
              <a:gd name="adj" fmla="val 13333"/>
            </a:avLst>
          </a:prstGeom>
          <a:solidFill>
            <a:srgbClr val="F8F3E8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91363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 月150万円以上・攻めの投資判断をしたい会社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※価格はすべて税別・月額。広告の運用代行は含みません。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株式会社VERA Holdings（後方支援）｜2026-07-23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ライト（月 1.5万円）でできること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対象：まず自社の数字を見えるようにしたい店舗・小規模EC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350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月次の数値レポート（Excel 2冊）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56362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キャンペーン別・クリエイティブ別・日別の全指標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3852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97510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診断書（1枚・5分で読める）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20370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今月の結論3行＋どこが効いて、どこが漏れているか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7860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6151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改善の指し手 5つ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84378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各手に「いくら増えるか」の試算つき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1868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2552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リンク1本で納品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4838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パソコンでもスマホでも開ける。social共有も可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1298448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7F4E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1399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このプランに含まないもの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65392" y="167335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○"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複数媒体をまたいだ比較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○"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登録経路別のLTV分析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○"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読み合わせの時間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2331720" cy="932688"/>
          </a:xfrm>
          <a:prstGeom prst="roundRect">
            <a:avLst>
              <a:gd name="adj" fmla="val 5882"/>
            </a:avLst>
          </a:prstGeom>
          <a:solidFill>
            <a:srgbClr val="14264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96265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同種サービスの平均
</a:t>
            </a:r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20%</a:t>
            </a:r>
            <a:pPr indent="0" marL="0">
              <a:buNone/>
            </a:pPr>
            <a:r>
              <a:rPr lang="en-US" sz="10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の価格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平均＝月額を公開している13サービスの単純平均 74,446円（2026-07-23時点・公開情報）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スタンダード（月 3万円）でできること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対象：広告費 月50万円以上・リピート購入がある会社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5720" cy="50292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350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ライトの全部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45720" cy="50292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110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全媒体を1枚に統合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13969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媒体ごとの「刈り取り」と「新規の仕入れ」を分けて可視化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50592"/>
            <a:ext cx="45720" cy="50292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4871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登録経路 × LTV 分析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71576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LINE経由・メール経由・ゲスト購入で1年後の価値がどう違うか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26664"/>
            <a:ext cx="45720" cy="50292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063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月1回30分の読み合わせ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29184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画面を一緒に見ながら、次の一手を決める（オンライン）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02736"/>
            <a:ext cx="45720" cy="50292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6393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先月提案の答え合わせ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86791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打った手がどうなったかを毎月の冒頭で検証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1298448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7F4E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1399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このプランに含まないもの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65392" y="167335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○"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週次のアラート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○"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LTV施策そのものの伴走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2880360"/>
            <a:ext cx="2331720" cy="932688"/>
          </a:xfrm>
          <a:prstGeom prst="roundRect">
            <a:avLst>
              <a:gd name="adj" fmla="val 5882"/>
            </a:avLst>
          </a:prstGeom>
          <a:solidFill>
            <a:srgbClr val="1426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96265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同種サービスの平均
</a:t>
            </a:r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40%</a:t>
            </a:r>
            <a:pPr indent="0" marL="0">
              <a:buNone/>
            </a:pPr>
            <a:r>
              <a:rPr lang="en-US" sz="10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の価格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平均＝月額を公開している13サービスの単純平均 74,446円（2026-07-23時点・公開情報）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プレミアム（月 5万円）でできること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対象：広告費 月150万円以上・攻めの投資判断をしたい会社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350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スタンダードの全部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7510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週次の勝ち負けアラート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20370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クリエイティブが疲れ始めた瞬間に通知（数字が折れる前に交代）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7860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6151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LTV施策の伴走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84378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登録導線の設計など、お客様が育つ仕組みづくりを一緒に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016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18688"/>
            <a:ext cx="45720" cy="56692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2552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四半期ごとのLTV再計算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4838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前提を貼り替え、許容CPA（いくらまで新規に払えるか）を更新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1298448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7F4E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399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このプランに含まないもの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65392" y="167335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○"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広告の運用代行（当社は運用しません）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2880360"/>
            <a:ext cx="2331720" cy="932688"/>
          </a:xfrm>
          <a:prstGeom prst="roundRect">
            <a:avLst>
              <a:gd name="adj" fmla="val 5882"/>
            </a:avLst>
          </a:prstGeom>
          <a:solidFill>
            <a:srgbClr val="14264F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96265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同種サービスの平均
</a:t>
            </a:r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67%</a:t>
            </a:r>
            <a:pPr indent="0" marL="0">
              <a:buNone/>
            </a:pPr>
            <a:r>
              <a:rPr lang="en-US" sz="10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の価格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平均＝月額を公開している13サービスの単純平均 74,446円（2026-07-23時点・公開情報）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同じ領域のサービスは、いくらか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2026-07-23時点で公開情報を調べた 36サービス（35社）の内訳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120640" y="1325880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F8F3E8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0" y="1399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月2〜5万の帯に9サービス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57800" y="16733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レポートを自動で作る道具が中心。数字は並ぶが、次の一手は自社で考える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120640" y="2295144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57800" y="2368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月10〜30万の帯に4サービス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57800" y="26426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人が助言する型。次の一手は言ってくれるが、価格は5〜10倍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120640" y="3264408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15サービスが価格非公開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578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問い合わせないと分からない＝比較しづらい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出典：各社Webの公開情報（2026-07-23時点）。価格は変動します。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「広告 × お客様の育ち × 次の一手」を1枚にしている先は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36サービスのうち、何社が対応しているか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37160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14264F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481328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3点セットは
</a:t>
            </a:r>
            <a:pPr algn="ctr" indent="0" marL="0">
              <a:buNone/>
            </a:pPr>
            <a:r>
              <a:rPr lang="en-US" sz="46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サービス
</a:t>
            </a:r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（今回の調査範囲）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3246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0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お客様の育ち（LTV）を見る2サービスは、いずれも顧客管理の道具であって、広告レポートではありません。つまり「広告の数字」と「お客様の育ち」は、別々の場所に置かれたままになっています。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※「次の一手まで言う」＝助言型・診断型・運用代行型・自動最適化1サービスの合計。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他の選び方と、何が違うのか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固有名詞は伏せ、3つの型に整理して比較しています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57800" y="1234440"/>
            <a:ext cx="3429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76672" y="12893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A社型（レポート自動化ツール）　月2〜5万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76672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データは豊富に並ぶ。ただし「で、どうする？」は自社で考える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257800" y="2020824"/>
            <a:ext cx="3429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76672" y="20756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B社型（人が助言する型）　月10〜30万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76672" y="2322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次の一手は言ってくれる。ただし価格が5〜10倍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257800" y="2807208"/>
            <a:ext cx="3429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76672" y="28620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C社型（運用代行）　広告費の20%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76672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丸ごと任せられる。ただしレポートは付帯物で、評価者と実行者が同じ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57800" y="3593592"/>
            <a:ext cx="3429000" cy="713232"/>
          </a:xfrm>
          <a:prstGeom prst="roundRect">
            <a:avLst>
              <a:gd name="adj" fmla="val 6410"/>
            </a:avLst>
          </a:prstGeom>
          <a:solidFill>
            <a:srgbClr val="14264F"/>
          </a:solidFill>
          <a:ln w="22860">
            <a:solidFill>
              <a:srgbClr val="C9A4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6672" y="36484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広告カルテ（当社）　月1.5〜5万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76672" y="3895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ツールの価格帯で、指し手とLTVまで。運用は持たない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5段階の点数は、公開情報をもとに当社が相対的に評価した目安です（絶対的な優劣を示すものではありません）。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価格の位置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月額を公開している 13サービスと並べたとき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37160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14264F"/>
          </a:solidFill>
          <a:ln/>
        </p:spPr>
      </p:sp>
      <p:sp>
        <p:nvSpPr>
          <p:cNvPr id="7" name="Text 4"/>
          <p:cNvSpPr/>
          <p:nvPr/>
        </p:nvSpPr>
        <p:spPr>
          <a:xfrm>
            <a:off x="6565392" y="16002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道具の価格帯で
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次の一手と
お客様の育ち
</a:t>
            </a:r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まで見ます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46520" y="35204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平均は単純平均（2026-07-23時点の公開情報）。運用代行型は広告費に連動するため、この比較には含めていません。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株式会社VERA Holdings（後方支援）｜2026-07-23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" cy="384048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291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なぜ、この価格でお出しできるのか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人がやる部分を残し、機械でよい部分は機械に任せているためです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778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384048" cy="384048"/>
          </a:xfrm>
          <a:prstGeom prst="ellipse">
            <a:avLst/>
          </a:prstGeom>
          <a:solidFill>
            <a:srgbClr val="1426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データを受け取る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お客様は管理画面から書き出して送るだけ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78608" y="141732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7780">
            <a:solidFill>
              <a:srgbClr val="E3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5768" y="1554480"/>
            <a:ext cx="384048" cy="384048"/>
          </a:xfrm>
          <a:prstGeom prst="ellipse">
            <a:avLst/>
          </a:prstGeom>
          <a:solidFill>
            <a:srgbClr val="14264F"/>
          </a:solidFill>
          <a:ln/>
        </p:spPr>
      </p:sp>
      <p:sp>
        <p:nvSpPr>
          <p:cNvPr id="12" name="Text 10"/>
          <p:cNvSpPr/>
          <p:nvPr/>
        </p:nvSpPr>
        <p:spPr>
          <a:xfrm>
            <a:off x="2715768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5768" y="20299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自動で組み上げる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5768" y="2340864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レポート・診断・改善案の下書きまで機械が作る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141732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C9A44C"/>
          </a:solidFill>
          <a:ln w="17780">
            <a:solidFill>
              <a:srgbClr val="C9A4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554480"/>
            <a:ext cx="384048" cy="384048"/>
          </a:xfrm>
          <a:prstGeom prst="ellipse">
            <a:avLst/>
          </a:prstGeom>
          <a:solidFill>
            <a:srgbClr val="14264F"/>
          </a:solidFill>
          <a:ln/>
        </p:spPr>
      </p:sp>
      <p:sp>
        <p:nvSpPr>
          <p:cNvPr id="17" name="Text 15"/>
          <p:cNvSpPr/>
          <p:nvPr/>
        </p:nvSpPr>
        <p:spPr>
          <a:xfrm>
            <a:off x="4837176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37176" y="20299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人が最終確認する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7176" y="2340864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4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お客様の商売に合っているかを人の目で確かめる（ここは残す）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21424" y="141732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7780">
            <a:solidFill>
              <a:srgbClr val="E3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8584" y="1554480"/>
            <a:ext cx="384048" cy="384048"/>
          </a:xfrm>
          <a:prstGeom prst="ellipse">
            <a:avLst/>
          </a:prstGeom>
          <a:solidFill>
            <a:srgbClr val="14264F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584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58584" y="20299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お届けする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8584" y="2340864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リンク1本。パソコンでもスマホでも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14264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0156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機械が下書きし、人が仕上げる。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だから、道具の価格帯で、人の目まで付けられます。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※お預かりしたデータは目的外に使いません。ご希望があれば秘密保持の取り決めを先に交わします。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株式会社VERA Holdings（後方支援）｜2026-07-23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選ぶのは、お客様です。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私たちは、そのための引き出しを用意するだけです。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79192" cy="1234440"/>
          </a:xfrm>
          <a:prstGeom prst="roundRect">
            <a:avLst>
              <a:gd name="adj" fmla="val 4444"/>
            </a:avLst>
          </a:prstGeom>
          <a:solidFill>
            <a:srgbClr val="1E3A6E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 1.5万円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186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1媒体（Meta など）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2377440"/>
            <a:ext cx="2679192" cy="1234440"/>
          </a:xfrm>
          <a:prstGeom prst="roundRect">
            <a:avLst>
              <a:gd name="adj" fmla="val 4444"/>
            </a:avLst>
          </a:prstGeom>
          <a:solidFill>
            <a:srgbClr val="1E3A6E"/>
          </a:solidFill>
          <a:ln w="25400">
            <a:solidFill>
              <a:srgbClr val="C9A4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2514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スタンダード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281635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 3万円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32186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全媒体（Meta／Google／LINE ほか）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2377440"/>
            <a:ext cx="2679192" cy="1234440"/>
          </a:xfrm>
          <a:prstGeom prst="roundRect">
            <a:avLst>
              <a:gd name="adj" fmla="val 4444"/>
            </a:avLst>
          </a:prstGeom>
          <a:solidFill>
            <a:srgbClr val="1E3A6E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2514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281635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 5万円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4224" y="32186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全媒体＋週次モニタリング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株式会社VERA Holdings　後方支援　|　広告の数字と、お客様の育ちを、毎月1枚に。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広告カルテ 3プランのご案内</dc:title>
  <dc:subject>PptxGenJS Presentation</dc:subject>
  <dc:creator>株式会社VERA Holdings</dc:creator>
  <cp:lastModifiedBy>株式会社VERA Holdings</cp:lastModifiedBy>
  <cp:revision>1</cp:revision>
  <dcterms:created xsi:type="dcterms:W3CDTF">2026-07-23T10:25:08Z</dcterms:created>
  <dcterms:modified xsi:type="dcterms:W3CDTF">2026-07-23T10:25:08Z</dcterms:modified>
</cp:coreProperties>
</file>